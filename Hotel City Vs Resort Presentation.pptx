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7" r:id="rId9"/>
    <p:sldId id="268" r:id="rId10"/>
    <p:sldId id="269" r:id="rId11"/>
    <p:sldId id="270" r:id="rId12"/>
    <p:sldId id="271" r:id="rId13"/>
    <p:sldId id="277" r:id="rId14"/>
    <p:sldId id="272" r:id="rId15"/>
    <p:sldId id="273" r:id="rId16"/>
    <p:sldId id="266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476" y="4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D1DE7-FD74-4FAE-9805-8FCC229D03B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7385D-9DF7-4BBF-98CD-FBFBE1FC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8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7385D-9DF7-4BBF-98CD-FBFBE1FC355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87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3247" y="781938"/>
            <a:ext cx="999553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947" y="1472012"/>
            <a:ext cx="7958455" cy="4070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06034" y="6464680"/>
            <a:ext cx="98044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373179-5A1D-B508-4D4E-78875113F3E7}"/>
              </a:ext>
            </a:extLst>
          </p:cNvPr>
          <p:cNvSpPr/>
          <p:nvPr/>
        </p:nvSpPr>
        <p:spPr>
          <a:xfrm rot="2703464">
            <a:off x="3805754" y="1151458"/>
            <a:ext cx="4536806" cy="4577041"/>
          </a:xfrm>
          <a:prstGeom prst="rect">
            <a:avLst/>
          </a:prstGeom>
          <a:solidFill>
            <a:schemeClr val="accent5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E664CE-8B6C-B3CD-0BEA-54C45D4A467F}"/>
              </a:ext>
            </a:extLst>
          </p:cNvPr>
          <p:cNvSpPr/>
          <p:nvPr/>
        </p:nvSpPr>
        <p:spPr>
          <a:xfrm rot="2703464">
            <a:off x="4104391" y="1433376"/>
            <a:ext cx="3983215" cy="3991250"/>
          </a:xfrm>
          <a:prstGeom prst="rect">
            <a:avLst/>
          </a:prstGeom>
          <a:solidFill>
            <a:srgbClr val="00B0F0">
              <a:alpha val="0"/>
            </a:srgb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BA0E1B5-8941-B692-26F7-38EEC7121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2"/>
            <a:ext cx="12192000" cy="6852355"/>
          </a:xfrm>
          <a:prstGeom prst="rect">
            <a:avLst/>
          </a:prstGeom>
          <a:ln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8ACE8F9-D4C5-DABE-D37F-42332B910D38}"/>
              </a:ext>
            </a:extLst>
          </p:cNvPr>
          <p:cNvSpPr txBox="1"/>
          <p:nvPr/>
        </p:nvSpPr>
        <p:spPr>
          <a:xfrm>
            <a:off x="2895598" y="2885182"/>
            <a:ext cx="64444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HOTEL BOOKING DATA ANALYSIS 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4B6914-2A85-6DA2-DDC1-BED7A6413935}"/>
              </a:ext>
            </a:extLst>
          </p:cNvPr>
          <p:cNvSpPr txBox="1"/>
          <p:nvPr/>
        </p:nvSpPr>
        <p:spPr>
          <a:xfrm>
            <a:off x="3962400" y="2433935"/>
            <a:ext cx="4190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City VS Resort Hotel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6309F3-ECBC-51EA-96EF-408374733AFD}"/>
              </a:ext>
            </a:extLst>
          </p:cNvPr>
          <p:cNvSpPr txBox="1"/>
          <p:nvPr/>
        </p:nvSpPr>
        <p:spPr>
          <a:xfrm>
            <a:off x="4419600" y="400788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Presented By: </a:t>
            </a:r>
            <a:r>
              <a:rPr lang="en-US" dirty="0">
                <a:solidFill>
                  <a:schemeClr val="bg1"/>
                </a:solidFill>
              </a:rPr>
              <a:t>Snehal Nalawade</a:t>
            </a:r>
          </a:p>
          <a:p>
            <a:r>
              <a:rPr lang="en-US" b="1" dirty="0">
                <a:solidFill>
                  <a:schemeClr val="bg1"/>
                </a:solidFill>
              </a:rPr>
              <a:t>Tools</a:t>
            </a:r>
            <a:r>
              <a:rPr lang="en-US" dirty="0">
                <a:solidFill>
                  <a:schemeClr val="bg1"/>
                </a:solidFill>
              </a:rPr>
              <a:t>: Excel | Power BI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CB311AFE-0A84-9DB1-1CE4-3BAB4A8687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60285"/>
            <a:ext cx="12192000" cy="5997715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73786" y="0"/>
            <a:ext cx="7255053" cy="6821098"/>
          </a:xfrm>
          <a:prstGeom prst="rect">
            <a:avLst/>
          </a:prstGeom>
        </p:spPr>
        <p:txBody>
          <a:bodyPr vert="horz" wrap="square" lIns="0" tIns="328930" rIns="0" bIns="0" rtlCol="0">
            <a:spAutoFit/>
          </a:bodyPr>
          <a:lstStyle/>
          <a:p>
            <a:pPr marL="12700">
              <a:spcBef>
                <a:spcPts val="2590"/>
              </a:spcBef>
            </a:pPr>
            <a:endParaRPr sz="3600" dirty="0">
              <a:latin typeface="Arial Black"/>
              <a:cs typeface="Arial Black"/>
            </a:endParaRPr>
          </a:p>
          <a:p>
            <a:pPr marL="777875" indent="-743585">
              <a:spcBef>
                <a:spcPts val="600"/>
              </a:spcBef>
              <a:buAutoNum type="arabicPeriod"/>
              <a:tabLst>
                <a:tab pos="777875" algn="l"/>
              </a:tabLst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3600" spc="-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3600" spc="-10" dirty="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</a:p>
          <a:p>
            <a:pPr marL="777875" indent="-743585">
              <a:spcBef>
                <a:spcPts val="600"/>
              </a:spcBef>
              <a:buAutoNum type="arabicPeriod"/>
              <a:tabLst>
                <a:tab pos="777875" algn="l"/>
              </a:tabLst>
            </a:pPr>
            <a:r>
              <a:rPr lang="en-US" sz="3600" spc="-10" dirty="0">
                <a:solidFill>
                  <a:srgbClr val="FFFFFF"/>
                </a:solidFill>
                <a:latin typeface="Calibri"/>
                <a:cs typeface="Calibri"/>
              </a:rPr>
              <a:t>Dataset Overview</a:t>
            </a:r>
          </a:p>
          <a:p>
            <a:pPr marL="777875" indent="-743585">
              <a:spcBef>
                <a:spcPts val="600"/>
              </a:spcBef>
              <a:buAutoNum type="arabicPeriod"/>
              <a:tabLst>
                <a:tab pos="777875" algn="l"/>
              </a:tabLst>
            </a:pPr>
            <a:r>
              <a:rPr lang="en-US" sz="3600" spc="-10" dirty="0">
                <a:solidFill>
                  <a:srgbClr val="FFFFFF"/>
                </a:solidFill>
                <a:latin typeface="Calibri"/>
                <a:cs typeface="Calibri"/>
              </a:rPr>
              <a:t>Tools &amp; Technologies</a:t>
            </a:r>
          </a:p>
          <a:p>
            <a:pPr marL="777875" indent="-743585">
              <a:spcBef>
                <a:spcPts val="600"/>
              </a:spcBef>
              <a:buAutoNum type="arabicPeriod"/>
              <a:tabLst>
                <a:tab pos="777875" algn="l"/>
              </a:tabLst>
            </a:pPr>
            <a:r>
              <a:rPr lang="en-US" sz="3600" spc="-10" dirty="0">
                <a:solidFill>
                  <a:srgbClr val="FFFFFF"/>
                </a:solidFill>
                <a:latin typeface="Calibri"/>
                <a:cs typeface="Calibri"/>
              </a:rPr>
              <a:t>Data Preparation &amp; Cleaning</a:t>
            </a:r>
          </a:p>
          <a:p>
            <a:pPr marL="777875" indent="-743585">
              <a:spcBef>
                <a:spcPts val="1005"/>
              </a:spcBef>
              <a:buAutoNum type="arabicPeriod"/>
              <a:tabLst>
                <a:tab pos="777875" algn="l"/>
              </a:tabLst>
            </a:pPr>
            <a:r>
              <a:rPr lang="en-US" sz="3600" spc="-25" dirty="0">
                <a:solidFill>
                  <a:srgbClr val="FFFFFF"/>
                </a:solidFill>
                <a:latin typeface="Calibri"/>
                <a:cs typeface="Calibri"/>
              </a:rPr>
              <a:t>Feature Engineering</a:t>
            </a:r>
            <a:endParaRPr lang="en-US" sz="3600" dirty="0">
              <a:latin typeface="Calibri"/>
              <a:cs typeface="Calibri"/>
            </a:endParaRPr>
          </a:p>
          <a:p>
            <a:pPr marL="777875" indent="-743585">
              <a:spcBef>
                <a:spcPts val="1005"/>
              </a:spcBef>
              <a:buFontTx/>
              <a:buAutoNum type="arabicPeriod"/>
              <a:tabLst>
                <a:tab pos="777875" algn="l"/>
              </a:tabLst>
            </a:pP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36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6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lang="en-US" sz="36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77875" indent="-743585">
              <a:spcBef>
                <a:spcPts val="1005"/>
              </a:spcBef>
              <a:buFontTx/>
              <a:buAutoNum type="arabicPeriod"/>
              <a:tabLst>
                <a:tab pos="777875" algn="l"/>
              </a:tabLst>
            </a:pPr>
            <a:r>
              <a:rPr lang="en-IN" sz="3600" spc="-10" dirty="0">
                <a:solidFill>
                  <a:srgbClr val="FFFFFF"/>
                </a:solidFill>
                <a:latin typeface="Calibri"/>
                <a:cs typeface="Calibri"/>
              </a:rPr>
              <a:t>Business Recommendation</a:t>
            </a:r>
          </a:p>
          <a:p>
            <a:pPr marL="777875" indent="-743585">
              <a:spcBef>
                <a:spcPts val="1005"/>
              </a:spcBef>
              <a:buFontTx/>
              <a:buAutoNum type="arabicPeriod"/>
              <a:tabLst>
                <a:tab pos="777875" algn="l"/>
              </a:tabLst>
            </a:pPr>
            <a:r>
              <a:rPr lang="en-IN" sz="3600" spc="-10" dirty="0">
                <a:solidFill>
                  <a:srgbClr val="FFFFFF"/>
                </a:solidFill>
                <a:latin typeface="Calibri"/>
                <a:cs typeface="Calibri"/>
              </a:rPr>
              <a:t>Challenge Faced</a:t>
            </a:r>
            <a:endParaRPr lang="en-US" sz="36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77875" indent="-743585">
              <a:spcBef>
                <a:spcPts val="1005"/>
              </a:spcBef>
              <a:buFontTx/>
              <a:buAutoNum type="arabicPeriod"/>
              <a:tabLst>
                <a:tab pos="777875" algn="l"/>
              </a:tabLst>
            </a:pPr>
            <a:r>
              <a:rPr lang="en-IN" sz="3600" spc="-10" dirty="0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  <a:endParaRPr sz="36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0688" y="2275332"/>
            <a:ext cx="4401311" cy="38160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7AC35-BCE3-28E3-95A5-7DBF2F475AA3}"/>
              </a:ext>
            </a:extLst>
          </p:cNvPr>
          <p:cNvSpPr txBox="1"/>
          <p:nvPr/>
        </p:nvSpPr>
        <p:spPr>
          <a:xfrm>
            <a:off x="792836" y="381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FFC000"/>
                </a:solidFill>
                <a:latin typeface="Arial Black"/>
              </a:rPr>
              <a:t>Content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3">
            <a:extLst>
              <a:ext uri="{FF2B5EF4-FFF2-40B4-BE49-F238E27FC236}">
                <a16:creationId xmlns:a16="http://schemas.microsoft.com/office/drawing/2014/main" id="{FB8B9CC8-5407-C02E-534D-3FFE4A0E49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60" y="907872"/>
            <a:ext cx="12192000" cy="5950128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81000" y="142168"/>
            <a:ext cx="720217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Project</a:t>
            </a:r>
            <a:r>
              <a:rPr sz="4000" spc="5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spc="-10" dirty="0">
                <a:solidFill>
                  <a:srgbClr val="FFC000"/>
                </a:solidFill>
                <a:latin typeface="Arial Black"/>
                <a:cs typeface="Arial Black"/>
              </a:rPr>
              <a:t>Objective</a:t>
            </a:r>
            <a:endParaRPr lang="en-IN" sz="4000" spc="-10" dirty="0">
              <a:solidFill>
                <a:srgbClr val="FFC000"/>
              </a:solidFill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80096" y="1906270"/>
            <a:ext cx="3773804" cy="4913630"/>
            <a:chOff x="8153400" y="1548383"/>
            <a:chExt cx="3773804" cy="49136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6939" y="1633727"/>
              <a:ext cx="1379220" cy="6553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1464" y="2147315"/>
              <a:ext cx="705612" cy="6964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82939" y="2080259"/>
              <a:ext cx="961644" cy="9555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3400" y="2636519"/>
              <a:ext cx="3773424" cy="38252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85147" y="1548383"/>
              <a:ext cx="836676" cy="76047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36F5B5B-1AD2-15CC-7C8E-6F88DCA3A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42" y="1129462"/>
            <a:ext cx="1110364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56285" marR="0" lvl="0" indent="-74358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Analyze booking patterns across City and Resort hotels</a:t>
            </a:r>
          </a:p>
          <a:p>
            <a:pPr marL="756285" marR="0" lvl="0" indent="-74358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756285" algn="l"/>
              </a:tabLst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56285" marR="0" lvl="0" indent="-74358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Identify key revenue drivers</a:t>
            </a:r>
          </a:p>
          <a:p>
            <a:pPr marL="756285" marR="0" lvl="0" indent="-74358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756285" algn="l"/>
              </a:tabLst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56285" marR="0" lvl="0" indent="-74358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Understand guest behavior and preferences</a:t>
            </a:r>
          </a:p>
          <a:p>
            <a:pPr marL="756285" marR="0" lvl="0" indent="-74358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756285" algn="l"/>
              </a:tabLst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56285" marR="0" lvl="0" indent="-74358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Evaluate cancellation trends</a:t>
            </a:r>
          </a:p>
          <a:p>
            <a:pPr marL="756285" marR="0" lvl="0" indent="-74358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756285" algn="l"/>
              </a:tabLst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56285" marR="0" lvl="0" indent="-74358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Provide data-driven recommendations to </a:t>
            </a:r>
          </a:p>
          <a:p>
            <a:pPr marL="12700"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	improve hotel performance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ject 3">
            <a:extLst>
              <a:ext uri="{FF2B5EF4-FFF2-40B4-BE49-F238E27FC236}">
                <a16:creationId xmlns:a16="http://schemas.microsoft.com/office/drawing/2014/main" id="{D4C1D554-089F-3042-3EE1-6CB8D528607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9"/>
            <a:ext cx="12192000" cy="59436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567" y="106589"/>
            <a:ext cx="9995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Dataset Overview</a:t>
            </a:r>
            <a:endParaRPr spc="-10" dirty="0"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95837" y="914399"/>
            <a:ext cx="1465900" cy="1447801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38410111-7D59-FF8A-37F1-2F092958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63" y="1044697"/>
            <a:ext cx="11861737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Contains 3 years of booking data (2015–2017)</a:t>
            </a:r>
          </a:p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r>
              <a:rPr lang="en-IN" sz="3200" dirty="0">
                <a:solidFill>
                  <a:srgbClr val="FFFFFF"/>
                </a:solidFill>
                <a:latin typeface="Calibri"/>
                <a:cs typeface="Calibri"/>
              </a:rPr>
              <a:t>119,000+ booking records</a:t>
            </a: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Includes City Hotel and Resort Hotel records</a:t>
            </a:r>
          </a:p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Captures booking details, guest demographics, and stay duration</a:t>
            </a:r>
          </a:p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Provides pricing information through Average Daily Rate (ADR)</a:t>
            </a:r>
          </a:p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56285" indent="-74358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756285" algn="l"/>
              </a:tabLst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Includes cancellation data for trend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DFA5DC8E-E30B-B646-0184-C15796CA88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67157"/>
            <a:ext cx="12192000" cy="5990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06589"/>
            <a:ext cx="9995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Tools &amp; Technologies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1411" y="1709997"/>
            <a:ext cx="2057400" cy="98634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47D3B-CEE9-550D-436F-A3CE69B00501}"/>
              </a:ext>
            </a:extLst>
          </p:cNvPr>
          <p:cNvSpPr txBox="1"/>
          <p:nvPr/>
        </p:nvSpPr>
        <p:spPr>
          <a:xfrm>
            <a:off x="683386" y="1413063"/>
            <a:ext cx="894473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FFFFFF"/>
                </a:solidFill>
                <a:latin typeface="Calibri"/>
                <a:cs typeface="Calibri"/>
              </a:rPr>
              <a:t>Technology Stack Used in the Project</a:t>
            </a:r>
          </a:p>
          <a:p>
            <a:pPr>
              <a:buNone/>
            </a:pPr>
            <a:endParaRPr 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Power BI → </a:t>
            </a:r>
            <a:r>
              <a:rPr lang="en-US" sz="3200" dirty="0">
                <a:solidFill>
                  <a:srgbClr val="FFFFFF"/>
                </a:solidFill>
                <a:latin typeface="Calibri"/>
                <a:cs typeface="Calibri"/>
              </a:rPr>
              <a:t>Interactive dashboard &amp; visualization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Power Query → </a:t>
            </a:r>
            <a:r>
              <a:rPr lang="en-US" sz="3200" dirty="0">
                <a:solidFill>
                  <a:srgbClr val="FFFFFF"/>
                </a:solidFill>
                <a:latin typeface="Calibri"/>
                <a:cs typeface="Calibri"/>
              </a:rPr>
              <a:t>Data cleaning and transformation (ETL process)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Excel → </a:t>
            </a:r>
            <a:r>
              <a:rPr lang="en-US" sz="3200" dirty="0">
                <a:solidFill>
                  <a:srgbClr val="FFFFFF"/>
                </a:solidFill>
                <a:latin typeface="Calibri"/>
                <a:cs typeface="Calibri"/>
              </a:rPr>
              <a:t>Initial data exploration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05A7B7-2548-BBFF-084D-92A538C82A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75" t="29309" r="40000" b="23319"/>
          <a:stretch>
            <a:fillRect/>
          </a:stretch>
        </p:blipFill>
        <p:spPr>
          <a:xfrm>
            <a:off x="9628123" y="3429000"/>
            <a:ext cx="1104901" cy="1082345"/>
          </a:xfrm>
          <a:prstGeom prst="rect">
            <a:avLst/>
          </a:prstGeom>
        </p:spPr>
      </p:pic>
      <p:pic>
        <p:nvPicPr>
          <p:cNvPr id="14" name="object 10">
            <a:extLst>
              <a:ext uri="{FF2B5EF4-FFF2-40B4-BE49-F238E27FC236}">
                <a16:creationId xmlns:a16="http://schemas.microsoft.com/office/drawing/2014/main" id="{A1E268BF-295C-F7B7-EEB5-FD456610682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00800" y="4670202"/>
            <a:ext cx="1465900" cy="14478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823618EB-1DE4-B99C-A6C5-2F1CE1A37D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67157"/>
            <a:ext cx="12192000" cy="599084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75820"/>
            <a:ext cx="999553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Data Preparation &amp; Cleaning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DDBD5F8-760A-735F-02DB-0FC5635A2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52592"/>
            <a:ext cx="113538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Removed duplicate records to maintain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Handled missing values using appropriate replacements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Standardized categorical fields for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Eliminated irrelevant columns to improve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FFFFFF"/>
                </a:solidFill>
                <a:latin typeface="Calibri"/>
                <a:cs typeface="Calibri"/>
              </a:rPr>
              <a:t>Created a Primary Key (Booking ID) for unique identification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894F36-B0FE-C3F8-3E57-F743F4410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065" y="145991"/>
            <a:ext cx="2695935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3">
            <a:extLst>
              <a:ext uri="{FF2B5EF4-FFF2-40B4-BE49-F238E27FC236}">
                <a16:creationId xmlns:a16="http://schemas.microsoft.com/office/drawing/2014/main" id="{0689F4B1-2A6A-4FF4-BAB8-7F4C83CAE68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14401"/>
            <a:ext cx="12192000" cy="59436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9995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8700770" algn="l"/>
              </a:tabLst>
            </a:pPr>
            <a:r>
              <a:rPr lang="en-IN" dirty="0"/>
              <a:t>Feature Engineering</a:t>
            </a:r>
            <a:endParaRPr sz="40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002127-7E6B-38DA-00A0-D2EBCA0FB62D}"/>
              </a:ext>
            </a:extLst>
          </p:cNvPr>
          <p:cNvSpPr txBox="1"/>
          <p:nvPr/>
        </p:nvSpPr>
        <p:spPr>
          <a:xfrm>
            <a:off x="438150" y="914401"/>
            <a:ext cx="1219200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To enhance analytical capabilities, several calculated fields were created:</a:t>
            </a:r>
          </a:p>
          <a:p>
            <a:pPr>
              <a:buNone/>
            </a:pPr>
            <a:endParaRPr lang="en-US" sz="1200" dirty="0">
              <a:solidFill>
                <a:srgbClr val="FFFFFF"/>
              </a:solidFill>
              <a:latin typeface="Calibri"/>
              <a:cs typeface="Calibri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Calibri"/>
                <a:cs typeface="Calibri"/>
              </a:rPr>
              <a:t>Total Guests = Adults + Children + Babies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Calibri"/>
                <a:cs typeface="Calibri"/>
              </a:rPr>
              <a:t>Total Stay = Weekend Nights + Week Nights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Calibri"/>
                <a:cs typeface="Calibri"/>
              </a:rPr>
              <a:t>Total Revenue = ADR × Total Stay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Calibri"/>
                <a:cs typeface="Calibri"/>
              </a:rPr>
              <a:t>Cancellation Status to track booking outcomes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Calibri"/>
                <a:cs typeface="Calibri"/>
              </a:rPr>
              <a:t>Lead Time Categories to understand booking behavior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Calibri"/>
                <a:cs typeface="Calibri"/>
              </a:rPr>
              <a:t>Guest Type Segmentation (Single, Couple, Group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0340642A-27CC-B0C7-BCEE-D652F9B2B70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2035" y="3886201"/>
            <a:ext cx="3581399" cy="23286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D3F61-9A7A-F955-1F1E-EB5452E6F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7C41EF0B-0407-E74E-4C27-EC7AE1F040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9833"/>
            <a:ext cx="12192000" cy="5898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A04270-CC33-FD37-E812-366EFC801D0B}"/>
              </a:ext>
            </a:extLst>
          </p:cNvPr>
          <p:cNvSpPr txBox="1"/>
          <p:nvPr/>
        </p:nvSpPr>
        <p:spPr>
          <a:xfrm>
            <a:off x="2608402" y="162051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Guest Type = </a:t>
            </a:r>
          </a:p>
          <a:p>
            <a:r>
              <a:rPr lang="en-IN" dirty="0">
                <a:solidFill>
                  <a:schemeClr val="bg1"/>
                </a:solidFill>
              </a:rPr>
              <a:t>SWITCH(</a:t>
            </a:r>
          </a:p>
          <a:p>
            <a:r>
              <a:rPr lang="en-IN" dirty="0">
                <a:solidFill>
                  <a:schemeClr val="bg1"/>
                </a:solidFill>
              </a:rPr>
              <a:t>    TRUE(),</a:t>
            </a:r>
          </a:p>
          <a:p>
            <a:r>
              <a:rPr lang="en-IN" dirty="0">
                <a:solidFill>
                  <a:schemeClr val="bg1"/>
                </a:solidFill>
              </a:rPr>
              <a:t>    'Hotel Booking'[adults] = 1, "Single",</a:t>
            </a:r>
          </a:p>
          <a:p>
            <a:r>
              <a:rPr lang="en-IN" dirty="0">
                <a:solidFill>
                  <a:schemeClr val="bg1"/>
                </a:solidFill>
              </a:rPr>
              <a:t>    'Hotel Booking'[adults] = 2, "Couple",</a:t>
            </a:r>
          </a:p>
          <a:p>
            <a:r>
              <a:rPr lang="en-IN" dirty="0">
                <a:solidFill>
                  <a:schemeClr val="bg1"/>
                </a:solidFill>
              </a:rPr>
              <a:t>    'Hotel Booking'[adults] &gt;= 3, "Group",</a:t>
            </a:r>
          </a:p>
          <a:p>
            <a:r>
              <a:rPr lang="en-IN" dirty="0">
                <a:solidFill>
                  <a:schemeClr val="bg1"/>
                </a:solidFill>
              </a:rPr>
              <a:t>    "Other"</a:t>
            </a:r>
          </a:p>
          <a:p>
            <a:r>
              <a:rPr lang="en-IN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019BD-2836-5F52-3B27-A17C36D9987E}"/>
              </a:ext>
            </a:extLst>
          </p:cNvPr>
          <p:cNvSpPr txBox="1"/>
          <p:nvPr/>
        </p:nvSpPr>
        <p:spPr>
          <a:xfrm>
            <a:off x="2608402" y="4527334"/>
            <a:ext cx="91600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Week of Day =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IF(WEEKDAY('Hotel_Bookings__1'[</a:t>
            </a:r>
            <a:r>
              <a:rPr lang="en-US" dirty="0" err="1">
                <a:solidFill>
                  <a:schemeClr val="bg1"/>
                </a:solidFill>
              </a:rPr>
              <a:t>Arrival_Date</a:t>
            </a:r>
            <a:r>
              <a:rPr lang="en-US" dirty="0">
                <a:solidFill>
                  <a:schemeClr val="bg1"/>
                </a:solidFill>
              </a:rPr>
              <a:t>],2)==1,"Monday",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IF(WEEKDAY('Hotel_Bookings__1'[</a:t>
            </a:r>
            <a:r>
              <a:rPr lang="en-US" dirty="0" err="1">
                <a:solidFill>
                  <a:schemeClr val="bg1"/>
                </a:solidFill>
              </a:rPr>
              <a:t>Arrival_Date</a:t>
            </a:r>
            <a:r>
              <a:rPr lang="en-US" dirty="0">
                <a:solidFill>
                  <a:schemeClr val="bg1"/>
                </a:solidFill>
              </a:rPr>
              <a:t>],2)==2,"Tuesday",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IF(WEEKDAY('Hotel_Bookings__1'[</a:t>
            </a:r>
            <a:r>
              <a:rPr lang="en-US" dirty="0" err="1">
                <a:solidFill>
                  <a:schemeClr val="bg1"/>
                </a:solidFill>
              </a:rPr>
              <a:t>Arrival_Date</a:t>
            </a:r>
            <a:r>
              <a:rPr lang="en-US" dirty="0">
                <a:solidFill>
                  <a:schemeClr val="bg1"/>
                </a:solidFill>
              </a:rPr>
              <a:t>],2)==3,"Wednesday",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IF(WEEKDAY('Hotel_Bookings__1'[</a:t>
            </a:r>
            <a:r>
              <a:rPr lang="en-US" dirty="0" err="1">
                <a:solidFill>
                  <a:schemeClr val="bg1"/>
                </a:solidFill>
              </a:rPr>
              <a:t>Arrival_Date</a:t>
            </a:r>
            <a:r>
              <a:rPr lang="en-US" dirty="0">
                <a:solidFill>
                  <a:schemeClr val="bg1"/>
                </a:solidFill>
              </a:rPr>
              <a:t>],2)==4,"Thursday",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IF(WEEKDAY('Hotel_Bookings__1'[</a:t>
            </a:r>
            <a:r>
              <a:rPr lang="en-US" dirty="0" err="1">
                <a:solidFill>
                  <a:schemeClr val="bg1"/>
                </a:solidFill>
              </a:rPr>
              <a:t>Arrival_Date</a:t>
            </a:r>
            <a:r>
              <a:rPr lang="en-US" dirty="0">
                <a:solidFill>
                  <a:schemeClr val="bg1"/>
                </a:solidFill>
              </a:rPr>
              <a:t>],2)==5,"Friday",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IF(WEEKDAY('Hotel_Bookings__1'[</a:t>
            </a:r>
            <a:r>
              <a:rPr lang="en-US" dirty="0" err="1">
                <a:solidFill>
                  <a:schemeClr val="bg1"/>
                </a:solidFill>
              </a:rPr>
              <a:t>Arrival_Date</a:t>
            </a:r>
            <a:r>
              <a:rPr lang="en-US" dirty="0">
                <a:solidFill>
                  <a:schemeClr val="bg1"/>
                </a:solidFill>
              </a:rPr>
              <a:t>],2)==6,"Saturday","Sunday"))))))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254380F-C1FF-E6D5-92B8-65820E4A53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9995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8700770" algn="l"/>
              </a:tabLst>
            </a:pPr>
            <a:r>
              <a:rPr lang="en-IN" dirty="0"/>
              <a:t>Feature Engineering: DAX Query</a:t>
            </a:r>
            <a:endParaRPr sz="4000" dirty="0"/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82049894-05E8-8140-D99D-8AE7BD2291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1815" y="959832"/>
            <a:ext cx="3581399" cy="23286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11BD14-E4A2-3F9B-2CF6-B042FAC7A484}"/>
              </a:ext>
            </a:extLst>
          </p:cNvPr>
          <p:cNvSpPr txBox="1"/>
          <p:nvPr/>
        </p:nvSpPr>
        <p:spPr>
          <a:xfrm>
            <a:off x="457200" y="3831136"/>
            <a:ext cx="3064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Week of Day :</a:t>
            </a:r>
            <a:endParaRPr lang="en-IN" sz="32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FB9F2D-90F9-00C8-0F13-5CC4745C026A}"/>
              </a:ext>
            </a:extLst>
          </p:cNvPr>
          <p:cNvSpPr txBox="1"/>
          <p:nvPr/>
        </p:nvSpPr>
        <p:spPr>
          <a:xfrm>
            <a:off x="457200" y="984935"/>
            <a:ext cx="3064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Guest Type :</a:t>
            </a:r>
            <a:endParaRPr lang="en-IN" sz="32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834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1DA0-A27A-EF3E-005E-5DA1B6365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1935"/>
            <a:ext cx="9995535" cy="635000"/>
          </a:xfrm>
        </p:spPr>
        <p:txBody>
          <a:bodyPr/>
          <a:lstStyle/>
          <a:p>
            <a:r>
              <a:rPr lang="en-IN" dirty="0"/>
              <a:t>Interactive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1A4F1-EF71-C6AA-B757-E55E13759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A8F9EEFD-E978-E1D6-036A-69196D0045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0600"/>
            <a:ext cx="12192000" cy="5867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3D20CD-47B0-C2BE-E384-39A8A62274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25" t="16650" r="14664" b="8868"/>
          <a:stretch>
            <a:fillRect/>
          </a:stretch>
        </p:blipFill>
        <p:spPr>
          <a:xfrm>
            <a:off x="1" y="736935"/>
            <a:ext cx="12191999" cy="612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7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9509E-49F6-2E32-EABE-D6A3E4CDF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0E55DD5-94E6-D881-08B9-8BFB46D170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400"/>
            <a:ext cx="12192000" cy="596401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A00C219-46DE-94D3-8CB9-E7D8FCF9256E}"/>
              </a:ext>
            </a:extLst>
          </p:cNvPr>
          <p:cNvSpPr txBox="1">
            <a:spLocks/>
          </p:cNvSpPr>
          <p:nvPr/>
        </p:nvSpPr>
        <p:spPr>
          <a:xfrm>
            <a:off x="381000" y="101935"/>
            <a:ext cx="999553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en-IN"/>
              <a:t>Interactive Dashboard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7D0807-F448-5943-70B6-28367428BE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t="21128" r="15625" b="7071"/>
          <a:stretch>
            <a:fillRect/>
          </a:stretch>
        </p:blipFill>
        <p:spPr>
          <a:xfrm>
            <a:off x="0" y="736935"/>
            <a:ext cx="12192000" cy="614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8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1CD4D-E4FC-A1D3-CCEB-6026D20F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9529"/>
            <a:ext cx="9995535" cy="635000"/>
          </a:xfrm>
        </p:spPr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007A1-7C73-6F6C-F4FA-B1D4437D4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ED88D379-A253-D156-B08D-2F9C32750B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400"/>
            <a:ext cx="12192000" cy="594360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3FD3452-F91F-F58B-AE48-E1F196433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915" y="1143000"/>
            <a:ext cx="11811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City Hotels recorded 22% higher booking volumes, likely driven by business travel.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Resort Hotels showed longer average stays, increasing revenue per booking.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Higher cancellation rates were observed in City Hotels..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Peak booking periods aligned with seasonal travel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Couples represented the largest guest segment, indicating strong leisure demand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/>
                <a:cs typeface="Calibri"/>
              </a:rPr>
              <a:t>August is one of the peak months for bookings. Hotels should manage their resources during these months and conduct promotional activities during months with fewer bookings.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Longer lead times were associated with increased cancellation probability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50A894DB-1CF7-6DCD-11D5-1ED058F3F0D0}"/>
              </a:ext>
            </a:extLst>
          </p:cNvPr>
          <p:cNvGrpSpPr/>
          <p:nvPr/>
        </p:nvGrpSpPr>
        <p:grpSpPr>
          <a:xfrm>
            <a:off x="9098317" y="1472012"/>
            <a:ext cx="3093683" cy="2947588"/>
            <a:chOff x="8427719" y="2019300"/>
            <a:chExt cx="3538854" cy="440944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3C631BF7-97BB-D2B1-1DAC-5892824B7B9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58883" y="2019300"/>
              <a:ext cx="1789176" cy="85039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CBE2CD62-BE91-328F-7A01-F034B4FF39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27719" y="2840736"/>
              <a:ext cx="3538728" cy="35874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214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B448-5F8D-5B54-44B2-0795EF7EE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7009"/>
            <a:ext cx="12649200" cy="1231106"/>
          </a:xfrm>
        </p:spPr>
        <p:txBody>
          <a:bodyPr/>
          <a:lstStyle/>
          <a:p>
            <a:r>
              <a:rPr lang="en-US" dirty="0"/>
              <a:t>Strategic Recommendations by Hotel Type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2C735-D83E-3B39-2C3D-1CCC2E327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55A7634-F346-1288-7F76-B8EDC77FA9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400"/>
            <a:ext cx="12192000" cy="5943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BF4DCD-C5D8-BDF4-EFBC-AC3DB9573BC4}"/>
              </a:ext>
            </a:extLst>
          </p:cNvPr>
          <p:cNvSpPr txBox="1"/>
          <p:nvPr/>
        </p:nvSpPr>
        <p:spPr>
          <a:xfrm>
            <a:off x="593548" y="1315003"/>
            <a:ext cx="11446052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City Hotel — Revenue Protection Strategy</a:t>
            </a: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Implement predictive overbooking using historical cancellation trends to minimize revenue loss from unoccupied rooms.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Promote direct bookings through exclusive perks to reduce third-party commission costs and improve profit margins.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Target corporate clients and business travelers to stabilize weekday occupancy.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Introduce flexible cancellation or rescheduling options to build customer trust while lowering last-minute cancellations.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Apply dynamic weekday pricing to capitalize on consistent business travel demand.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</a:t>
            </a:r>
            <a:r>
              <a:rPr lang="en-US" b="1" dirty="0">
                <a:solidFill>
                  <a:schemeClr val="bg1"/>
                </a:solidFill>
              </a:rPr>
              <a:t>Key Focus: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Revenue protection and occupancy stabilization.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75463-94EE-D3B4-AEB4-CFC68DF4EFDD}"/>
              </a:ext>
            </a:extLst>
          </p:cNvPr>
          <p:cNvSpPr txBox="1"/>
          <p:nvPr/>
        </p:nvSpPr>
        <p:spPr>
          <a:xfrm>
            <a:off x="166607" y="1388115"/>
            <a:ext cx="6478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🏨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264372-2D62-04D7-3BBC-31A92336C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1" y="4343401"/>
            <a:ext cx="2829592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1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C2C1C3-CB45-EB15-1AD7-C4BB847942BA}"/>
              </a:ext>
            </a:extLst>
          </p:cNvPr>
          <p:cNvSpPr txBox="1">
            <a:spLocks/>
          </p:cNvSpPr>
          <p:nvPr/>
        </p:nvSpPr>
        <p:spPr>
          <a:xfrm>
            <a:off x="152400" y="157009"/>
            <a:ext cx="1264920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en-US"/>
              <a:t>Strategic Recommendations by Hotel Type</a:t>
            </a:r>
            <a:endParaRPr lang="en-IN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30AFD9CA-A84D-6016-47D9-974D139553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400"/>
            <a:ext cx="12192000" cy="5943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D6B9B1-836A-0DBF-0F4F-7739E7D9FBE9}"/>
              </a:ext>
            </a:extLst>
          </p:cNvPr>
          <p:cNvSpPr txBox="1"/>
          <p:nvPr/>
        </p:nvSpPr>
        <p:spPr>
          <a:xfrm>
            <a:off x="533399" y="1586215"/>
            <a:ext cx="1135380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Resort Hotel — Demand Generation Strategy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Design attractive vacation packages by bundling accommodation with dining, spa, and recreational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Launch early seasonal marketing campaigns to capture advance bookings from leisure travelers.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Encourage longer stays through discounted multi-night offers to increase revenue per guest.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Strengthen digital marketing and social media presence to enhance visibility among travelers.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Develop loyalty programs to convert first-time guests into repeat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👉 Key Focus: Demand creation and guest experience enhancement</a:t>
            </a:r>
            <a:r>
              <a:rPr lang="en-US" i="1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54AEE6-D346-D2D0-A71B-459F2E206C2A}"/>
              </a:ext>
            </a:extLst>
          </p:cNvPr>
          <p:cNvSpPr txBox="1"/>
          <p:nvPr/>
        </p:nvSpPr>
        <p:spPr>
          <a:xfrm>
            <a:off x="152400" y="1688068"/>
            <a:ext cx="6440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🌴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4AC241-F652-33EB-D2F8-4BAF6AEF8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1" y="4343401"/>
            <a:ext cx="2829592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4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E309-D0CE-B04B-826A-7C08E9D6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27000"/>
            <a:ext cx="9995535" cy="635000"/>
          </a:xfrm>
        </p:spPr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26EDB-3D3B-C7DA-7240-0757CC971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95CCB05B-DEBA-A42F-1BA3-5199E3D95B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0"/>
            <a:ext cx="12192000" cy="609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301615-2F72-8B90-15E1-ED9C5C3F67EA}"/>
              </a:ext>
            </a:extLst>
          </p:cNvPr>
          <p:cNvSpPr txBox="1"/>
          <p:nvPr/>
        </p:nvSpPr>
        <p:spPr>
          <a:xfrm>
            <a:off x="1828800" y="1750435"/>
            <a:ext cx="81534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/>
                <a:cs typeface="Calibri"/>
              </a:rPr>
              <a:t>Handling missing and inconsistent data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/>
                <a:cs typeface="Calibri"/>
              </a:rPr>
              <a:t>Transforming raw data into meaningful metrics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/>
                <a:cs typeface="Calibri"/>
              </a:rPr>
              <a:t>Selecting the most impactful KPIs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/>
                <a:cs typeface="Calibri"/>
              </a:rPr>
              <a:t>Designing a dashboard that balances detail with clarity</a:t>
            </a:r>
          </a:p>
        </p:txBody>
      </p:sp>
    </p:spTree>
    <p:extLst>
      <p:ext uri="{BB962C8B-B14F-4D97-AF65-F5344CB8AC3E}">
        <p14:creationId xmlns:p14="http://schemas.microsoft.com/office/powerpoint/2010/main" val="123779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574B-F19E-3165-2035-0926D861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7009"/>
            <a:ext cx="9995535" cy="6350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B209E-CCD9-B23F-053A-DB8C75EA4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B933CF8-77C7-7FEB-885C-C711D75262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9"/>
            <a:ext cx="12192000" cy="594360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D7678A8-7847-AC2F-66B0-9CA639C36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799" y="1472012"/>
            <a:ext cx="83820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Increase occupancy through targeted demand strategies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Minimize revenue loss by proactively managing cancellations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Implement dynamic pricing to maximize profitability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Strengthen customer retention through personalized guest experiences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FFFF"/>
                </a:solidFill>
                <a:latin typeface="Calibri"/>
                <a:cs typeface="Calibri"/>
              </a:rPr>
              <a:t>Align marketing efforts with high-value customer segments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6C3502-2FA4-9AD1-FA36-DFD68B000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317" y="3568876"/>
            <a:ext cx="3322283" cy="332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8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442972" cy="33604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1219" y="0"/>
            <a:ext cx="2430779" cy="338937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851235" y="1396724"/>
            <a:ext cx="1507362" cy="939165"/>
            <a:chOff x="5832347" y="2154935"/>
            <a:chExt cx="932815" cy="55816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2347" y="2154935"/>
              <a:ext cx="539496" cy="5394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5371" y="2353055"/>
              <a:ext cx="359664" cy="35966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30447" y="1778106"/>
            <a:ext cx="720788" cy="557783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17392F-C60F-7BAC-B0C7-CE64D44D26AC}"/>
              </a:ext>
            </a:extLst>
          </p:cNvPr>
          <p:cNvSpPr txBox="1"/>
          <p:nvPr/>
        </p:nvSpPr>
        <p:spPr>
          <a:xfrm>
            <a:off x="4691" y="2667000"/>
            <a:ext cx="121919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  <a:endParaRPr lang="en-IN" sz="96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2897</TotalTime>
  <Words>786</Words>
  <Application>Microsoft Office PowerPoint</Application>
  <PresentationFormat>Widescreen</PresentationFormat>
  <Paragraphs>158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Algerian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Dataset Overview</vt:lpstr>
      <vt:lpstr>Tools &amp; Technologies</vt:lpstr>
      <vt:lpstr>Data Preparation &amp; Cleaning</vt:lpstr>
      <vt:lpstr>Feature Engineering</vt:lpstr>
      <vt:lpstr>Feature Engineering: DAX Query</vt:lpstr>
      <vt:lpstr>Interactive Dashboard</vt:lpstr>
      <vt:lpstr>PowerPoint Presentation</vt:lpstr>
      <vt:lpstr>Key Insights</vt:lpstr>
      <vt:lpstr>Strategic Recommendations by Hotel Type</vt:lpstr>
      <vt:lpstr>PowerPoint Presentation</vt:lpstr>
      <vt:lpstr>Challenges Faced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Analyst Roadmap</dc:title>
  <dc:creator>Rishabh Mishra</dc:creator>
  <cp:lastModifiedBy>Snehal Nalawade</cp:lastModifiedBy>
  <cp:revision>12</cp:revision>
  <dcterms:created xsi:type="dcterms:W3CDTF">2025-07-21T11:19:25Z</dcterms:created>
  <dcterms:modified xsi:type="dcterms:W3CDTF">2026-02-11T09:59:28Z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2025-07-21T00:00:00Z</vt:filetime>
  </property>
  <property fmtid="{D5CDD505-2E9C-101B-9397-08002B2CF9AE}" pid="5" name="Producer">
    <vt:lpwstr>Microsoft® PowerPoint® 2021</vt:lpwstr>
  </property>
</Properties>
</file>